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02A4-FC9C-21BE-C47B-E26011946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A54EC-8462-7927-D5F6-405CC3D36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B7643-6428-A9A1-BF1E-FB565389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D8CC-9EDB-E592-BAF7-7218D1D2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4BBC5-6A62-856E-AB23-CE0ACFF0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76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56F7-3703-2736-A38D-79DDC0AD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8F8E2-DA9A-28C0-AA8F-5E9779828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5BAA4-C864-A1DA-E73B-A523F730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F26D3-730A-E398-70C7-9BC01A51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15779-1A01-159F-61B5-9B3E2DBD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969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28E9-21B7-A316-5D7B-2E30FC18F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2188A-7E6C-E811-0230-F0A2AD62B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1A96E-8222-136E-571C-BDD8A5482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B523-35EE-CE6C-8FD7-1DD5681C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4FF22-BC1C-71C6-3BB9-AC143C76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185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1EB4-1AFE-CEB4-266B-7950DDC78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632B-C9BE-2B48-6F3F-201AC9DB9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083C7-38B0-BF8E-6F99-680076B81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FEE9A-AE28-3A5F-B5D4-866DABC1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5828-906A-5025-F209-1D1D6330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96377-3D93-0545-CE99-593D47F0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765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3FCF-D9D1-F357-1B28-130F88C6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03E24-00BA-BB2E-EEF9-2CE020E7A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53404-73E6-DAC7-C44A-916A010D6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31CD6-427A-06D8-61D6-7067BA83C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5B0CB-5AC3-7481-3DE1-E80CFA621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4C234-13A3-4382-4602-38610E03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7AE0C-A15D-03D0-4373-7D53E68C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B2151-F885-42A4-2AF9-316DA239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502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51AE6-B4D4-8436-14D0-0192B3EB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8A1FE-3CFA-964B-B246-D244194E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33E43-5D99-F7D4-C62B-141A2FC9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0DD19-7B9A-D951-9DC3-96AEC988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45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12D5B-0711-FA20-3F94-F8423702E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6E774-AAFD-686C-E6E4-B0B56948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82642-6BA2-1376-E7B2-39ECE341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64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316E-BB52-5F74-223A-AE8DFD72F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288DF-21A2-D39E-5E8D-C660EBB67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4C5E2-E50D-DCF6-6D4C-CE2ABBEB5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58756-103B-5D1B-BB80-5D0A95F6F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98E8C-FB6A-7150-9008-E5EA368E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D58E3-F5F7-E9B7-1B2A-A2B3E284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62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B9E7-6869-C23A-6882-7546F244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C6669F-8ECD-D99A-3F49-96A806047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B559C-671D-4C0C-2413-20FAEA2AB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A6F25-CAEA-DF9D-69EA-7C6DA4F2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D7116-C609-34F5-24ED-12B39B78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BC792-9F38-0C74-13D5-6B7808BEB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44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6081-2D59-9651-0E90-A9BE639C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75397-EAD8-6F48-C62D-C089E4CDA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A6DCB-0277-83A6-6204-DAFA4D7E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B8B71-194B-FC59-305A-403FE632F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62DFC-BC51-05A3-29A7-2DA09CE4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86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CA05E-CB38-575D-B082-6ADBEB92E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32F59-F26D-D82D-A727-10E79827F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C5797-05C1-6449-876B-23765D69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D4DE3-4BF0-BDF6-5241-78DED785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B51B7-BC10-5FA2-1D57-6B32B079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064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AC3B6-00EC-C237-08F8-8D7531C9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BD3A6-9923-077F-7B24-66463DF5D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3B8A6-A87B-13AA-5AFB-C983839AA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5FBE5-DEAB-4D37-A9B6-4300DB603F9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6A56C-CFE2-CE85-4556-55CE974A1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E686D-EFED-FAB9-5F8C-9261CEA87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5AC54-FBF1-4F7B-9616-86FC56FC1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15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BA9A-28C1-9D55-0DA2-48FE8C0A6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Stock Market Forecasting Internship Project</a:t>
            </a:r>
            <a:br>
              <a:rPr lang="en-US" sz="3600" b="1" dirty="0"/>
            </a:br>
            <a:r>
              <a:rPr lang="en-US" sz="3600" b="1" dirty="0"/>
              <a:t>Forecasting Apple (AAPL) Stock Prices Using ARIMA, SARIMA &amp; LSTM</a:t>
            </a: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E1DBB-38DA-453B-CF99-855D82CCCD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Prepared By:</a:t>
            </a:r>
            <a:r>
              <a:rPr lang="en-US" dirty="0"/>
              <a:t> </a:t>
            </a:r>
            <a:r>
              <a:rPr lang="en-US" i="1" dirty="0"/>
              <a:t>Amaya Rajan K</a:t>
            </a:r>
            <a:br>
              <a:rPr lang="en-US" dirty="0"/>
            </a:br>
            <a:r>
              <a:rPr lang="en-US" b="1" dirty="0"/>
              <a:t>Internship Role:</a:t>
            </a:r>
            <a:r>
              <a:rPr lang="en-US" dirty="0"/>
              <a:t> Machine Learning / Data Science Intern</a:t>
            </a:r>
            <a:br>
              <a:rPr lang="en-US" dirty="0"/>
            </a:br>
            <a:r>
              <a:rPr lang="en-US" b="1" dirty="0" err="1"/>
              <a:t>Organisation</a:t>
            </a:r>
            <a:r>
              <a:rPr lang="en-US" b="1" dirty="0"/>
              <a:t>:</a:t>
            </a:r>
            <a:r>
              <a:rPr lang="en-US" dirty="0"/>
              <a:t> ZIDIO Development</a:t>
            </a:r>
            <a:br>
              <a:rPr lang="en-US" dirty="0"/>
            </a:br>
            <a:r>
              <a:rPr lang="en-US" b="1" dirty="0"/>
              <a:t>Year:</a:t>
            </a:r>
            <a:r>
              <a:rPr lang="en-US" dirty="0"/>
              <a:t>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76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21F6-81D7-3B33-7DCB-77183697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22FBA-75E8-F035-56A7-62EA2BC2C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Objective: Forecast short-term closing prices of Apple Inc. (AAPL).</a:t>
            </a:r>
          </a:p>
          <a:p>
            <a:r>
              <a:rPr lang="en-US" dirty="0"/>
              <a:t>Developed as part of a Machine Learning internship.</a:t>
            </a:r>
          </a:p>
          <a:p>
            <a:r>
              <a:rPr lang="en-US" dirty="0"/>
              <a:t>Implements classical statistical models (ARIMA, SARIMA) and a deep-learning model (LSTM).</a:t>
            </a:r>
          </a:p>
          <a:p>
            <a:r>
              <a:rPr lang="en-US" dirty="0"/>
              <a:t>Built using a structured industry-standard Python workflow.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017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F464-6187-3DE2-2C5C-7AA6701C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DB7C6-B247-03E3-2BEC-5A5F337D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ARIMA</a:t>
            </a:r>
            <a:r>
              <a:rPr lang="en-IN" dirty="0"/>
              <a:t> – Linear model capturing trend using autoregression and differencing.</a:t>
            </a:r>
          </a:p>
          <a:p>
            <a:r>
              <a:rPr lang="en-IN" b="1" dirty="0"/>
              <a:t>SARIMA</a:t>
            </a:r>
            <a:r>
              <a:rPr lang="en-IN" dirty="0"/>
              <a:t> – ARIMA extended with seasonal pattern detection.</a:t>
            </a:r>
          </a:p>
          <a:p>
            <a:r>
              <a:rPr lang="en-IN" b="1" dirty="0"/>
              <a:t>LSTM</a:t>
            </a:r>
            <a:r>
              <a:rPr lang="en-IN" dirty="0"/>
              <a:t> – Deep learning model capable of nonlinear sequential learning.</a:t>
            </a:r>
          </a:p>
          <a:p>
            <a:r>
              <a:rPr lang="en-IN" dirty="0"/>
              <a:t>All models trained using historical AAPL stock closing prices.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92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8058-847B-8C39-C71F-C9FEE09C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Software &amp;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4EF3-331D-4CEE-DD6D-3FA5146DE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Python</a:t>
            </a:r>
            <a:endParaRPr lang="en-IN" dirty="0"/>
          </a:p>
          <a:p>
            <a:r>
              <a:rPr lang="en-IN" b="1" dirty="0"/>
              <a:t>Pandas, NumPy</a:t>
            </a:r>
            <a:r>
              <a:rPr lang="en-IN" dirty="0"/>
              <a:t> – Data processing</a:t>
            </a:r>
          </a:p>
          <a:p>
            <a:r>
              <a:rPr lang="en-IN" b="1" dirty="0"/>
              <a:t>Matplotlib, Seaborn</a:t>
            </a:r>
            <a:r>
              <a:rPr lang="en-IN" dirty="0"/>
              <a:t> – Visual analytics</a:t>
            </a:r>
          </a:p>
          <a:p>
            <a:r>
              <a:rPr lang="en-IN" b="1" dirty="0" err="1"/>
              <a:t>Statsmodels</a:t>
            </a:r>
            <a:r>
              <a:rPr lang="en-IN" dirty="0"/>
              <a:t> – ARIMA/SARIMA</a:t>
            </a:r>
          </a:p>
          <a:p>
            <a:r>
              <a:rPr lang="en-IN" b="1" dirty="0"/>
              <a:t>TensorFlow/</a:t>
            </a:r>
            <a:r>
              <a:rPr lang="en-IN" b="1" dirty="0" err="1"/>
              <a:t>Keras</a:t>
            </a:r>
            <a:r>
              <a:rPr lang="en-IN" dirty="0"/>
              <a:t> – LSTM neural networks</a:t>
            </a:r>
          </a:p>
          <a:p>
            <a:r>
              <a:rPr lang="en-IN" b="1" dirty="0" err="1"/>
              <a:t>YFinance</a:t>
            </a:r>
            <a:r>
              <a:rPr lang="en-IN" dirty="0"/>
              <a:t> – Stock price data extraction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607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D563-30AD-ECA5-F085-0578D764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Stock Trend &amp; Moving Averages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F37B9-02D2-42A1-065C-EBFA86825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000" b="1" dirty="0"/>
              <a:t>Insights: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7-day &amp; 30-day moving averages highlight longer-term trend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Shows the general upward/downward momentum of AAPL stock.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Helps reduce noise and smoothen volatility for interpretation.</a:t>
            </a:r>
          </a:p>
          <a:p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5198D91-4D5B-D2CA-FDB3-78EF78153AFC}"/>
              </a:ext>
            </a:extLst>
          </p:cNvPr>
          <p:cNvPicPr preferRelativeResize="0"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987425"/>
            <a:ext cx="7419975" cy="42885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0483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36FC-C9B5-6DB9-11BC-88D1163A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Feature Correlation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4B1D012-3AF9-3CCD-C726-16B765274B0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863275"/>
            <a:ext cx="6477870" cy="508524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116E7-3C26-AB09-B185-CB2896A60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000" b="1" dirty="0"/>
              <a:t>Insights: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Lag-1 feature has the strongest correlation with actual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Rolling features help stabilize short-term fluctuations.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Confirms strong time dependency in stock price </a:t>
            </a:r>
            <a:r>
              <a:rPr lang="en-US" sz="2000" dirty="0" err="1"/>
              <a:t>behaviour</a:t>
            </a:r>
            <a:r>
              <a:rPr lang="en-US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02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D69A-6912-E705-5E82-984FF8C5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Model Forecast Comparison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4DE4A67-884D-0003-67DF-2878F7CAFD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" r="374"/>
          <a:stretch>
            <a:fillRect/>
          </a:stretch>
        </p:blipFill>
        <p:spPr>
          <a:xfrm>
            <a:off x="4602144" y="987425"/>
            <a:ext cx="7475975" cy="4873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C515B-087B-6ED5-FBFE-8560AD327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000" b="1" dirty="0"/>
              <a:t>Insights: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ARIMA:</a:t>
            </a:r>
            <a:r>
              <a:rPr lang="en-US" sz="2000" dirty="0"/>
              <a:t> Produces nearly flat forecasts; underfits market volatility.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SARIMA:</a:t>
            </a:r>
            <a:r>
              <a:rPr lang="en-US" sz="2000" dirty="0"/>
              <a:t> Captures mild seasonality; better than ARIMA.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LSTM:</a:t>
            </a:r>
            <a:r>
              <a:rPr lang="en-US" sz="2000" dirty="0"/>
              <a:t> Most accurate and realistic; closely follows actual price movement.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37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BB70-8512-A067-DFCF-CBE6AB30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Model Output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1A6A0-38DB-70FD-C40D-E51E26ACC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Insights:</a:t>
            </a:r>
            <a:endParaRPr lang="en-IN" dirty="0"/>
          </a:p>
          <a:p>
            <a:r>
              <a:rPr lang="en-IN" dirty="0"/>
              <a:t>ARIMA &amp; SARIMA produce smoother, trend-focused forecasts.</a:t>
            </a:r>
          </a:p>
          <a:p>
            <a:r>
              <a:rPr lang="en-IN" dirty="0"/>
              <a:t>LSTM models complex nonlinear stock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dirty="0"/>
              <a:t>LSTM's predictions reflect stronger real-world correlation.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05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809A-8A4F-77BB-ECA6-E7A95A72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Model Performance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BCF93-7337-538B-D291-8DD5E7561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From model_comparison.csv:</a:t>
            </a:r>
            <a:endParaRPr lang="en-IN" dirty="0"/>
          </a:p>
          <a:p>
            <a:r>
              <a:rPr lang="en-IN" b="1" dirty="0"/>
              <a:t>ARIMA MAPE:</a:t>
            </a:r>
            <a:r>
              <a:rPr lang="en-IN" dirty="0"/>
              <a:t> 6.09%</a:t>
            </a:r>
          </a:p>
          <a:p>
            <a:r>
              <a:rPr lang="en-IN" b="1" dirty="0"/>
              <a:t>SARIMA MAPE:</a:t>
            </a:r>
            <a:r>
              <a:rPr lang="en-IN" dirty="0"/>
              <a:t> 4.96%</a:t>
            </a:r>
          </a:p>
          <a:p>
            <a:r>
              <a:rPr lang="en-IN" b="1" dirty="0"/>
              <a:t>LSTM MAPE:</a:t>
            </a:r>
            <a:r>
              <a:rPr lang="en-IN" dirty="0"/>
              <a:t> 4.25% (BEST)</a:t>
            </a:r>
          </a:p>
          <a:p>
            <a:pPr marL="0" indent="0">
              <a:buNone/>
            </a:pPr>
            <a:r>
              <a:rPr lang="en-IN" b="1" dirty="0"/>
              <a:t>Insights:</a:t>
            </a:r>
            <a:endParaRPr lang="en-IN" dirty="0"/>
          </a:p>
          <a:p>
            <a:r>
              <a:rPr lang="en-IN" dirty="0"/>
              <a:t>LSTM delivered the lowest errors across all metrics.</a:t>
            </a:r>
          </a:p>
          <a:p>
            <a:r>
              <a:rPr lang="en-IN" dirty="0"/>
              <a:t>SARIMA improved over ARIMA due to seasonality </a:t>
            </a:r>
            <a:r>
              <a:rPr lang="en-IN" dirty="0" err="1"/>
              <a:t>modeling</a:t>
            </a:r>
            <a:r>
              <a:rPr lang="en-IN" dirty="0"/>
              <a:t>.</a:t>
            </a:r>
          </a:p>
          <a:p>
            <a:r>
              <a:rPr lang="en-IN" dirty="0"/>
              <a:t>Deep learning approach proved most effective.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26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3E0D4-6355-4D95-FA8A-1B74A422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EAA78-769A-5A6C-DAF2-68536B9D1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Complete stock forecasting pipeline successfully developed.</a:t>
            </a:r>
          </a:p>
          <a:p>
            <a:r>
              <a:rPr lang="en-US" dirty="0"/>
              <a:t>LSTM outperforms classical models significantly.</a:t>
            </a:r>
          </a:p>
          <a:p>
            <a:r>
              <a:rPr lang="en-US" dirty="0"/>
              <a:t>Demonstrates strong skills in ML, DL, Time-Series Analysis, and Financial Modelling.</a:t>
            </a:r>
          </a:p>
          <a:p>
            <a:r>
              <a:rPr lang="en-US" dirty="0"/>
              <a:t>Pipeline can be extended to multiple stocks and additional predictive features.</a:t>
            </a:r>
          </a:p>
          <a:p>
            <a:r>
              <a:rPr lang="en-US" dirty="0"/>
              <a:t>Suitable for real-world financial forecasting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260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D8B1-30C7-DC9B-8A8A-EE107A30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32320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3962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Stock Market Forecasting Internship Project Forecasting Apple (AAPL) Stock Prices Using ARIMA, SARIMA &amp; LSTM</vt:lpstr>
      <vt:lpstr>Project Introduction</vt:lpstr>
      <vt:lpstr>Techniques Used</vt:lpstr>
      <vt:lpstr>Software &amp; Tools Used</vt:lpstr>
      <vt:lpstr>Stock Trend &amp; Moving Averages</vt:lpstr>
      <vt:lpstr>Feature Correlation Analysis</vt:lpstr>
      <vt:lpstr>Model Forecast Comparison</vt:lpstr>
      <vt:lpstr>Model Output Interpretation</vt:lpstr>
      <vt:lpstr>Model Performance Summary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amaya rajeesh</dc:creator>
  <cp:lastModifiedBy>amaya rajeesh</cp:lastModifiedBy>
  <cp:revision>1</cp:revision>
  <dcterms:created xsi:type="dcterms:W3CDTF">2025-11-21T06:06:32Z</dcterms:created>
  <dcterms:modified xsi:type="dcterms:W3CDTF">2025-11-21T06:07:18Z</dcterms:modified>
</cp:coreProperties>
</file>